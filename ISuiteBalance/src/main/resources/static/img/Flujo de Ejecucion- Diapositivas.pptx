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4" r:id="rId3"/>
    <p:sldId id="285" r:id="rId4"/>
    <p:sldId id="256" r:id="rId5"/>
    <p:sldId id="257" r:id="rId6"/>
    <p:sldId id="258" r:id="rId7"/>
    <p:sldId id="25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90" r:id="rId27"/>
    <p:sldId id="280" r:id="rId28"/>
    <p:sldId id="281" r:id="rId29"/>
    <p:sldId id="282" r:id="rId30"/>
    <p:sldId id="283" r:id="rId31"/>
    <p:sldId id="286" r:id="rId32"/>
    <p:sldId id="287" r:id="rId33"/>
    <p:sldId id="288" r:id="rId34"/>
    <p:sldId id="289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94660"/>
  </p:normalViewPr>
  <p:slideViewPr>
    <p:cSldViewPr>
      <p:cViewPr varScale="1">
        <p:scale>
          <a:sx n="82" d="100"/>
          <a:sy n="82" d="100"/>
        </p:scale>
        <p:origin x="-1426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DB5EC-67EB-4D44-892E-D5DCA98867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A8F9-E0FF-4D5F-B618-7E9E7E6074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55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DB5EC-67EB-4D44-892E-D5DCA98867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A8F9-E0FF-4D5F-B618-7E9E7E6074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465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DB5EC-67EB-4D44-892E-D5DCA98867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A8F9-E0FF-4D5F-B618-7E9E7E6074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26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DB5EC-67EB-4D44-892E-D5DCA98867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A8F9-E0FF-4D5F-B618-7E9E7E6074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7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DB5EC-67EB-4D44-892E-D5DCA98867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A8F9-E0FF-4D5F-B618-7E9E7E6074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90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DB5EC-67EB-4D44-892E-D5DCA98867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A8F9-E0FF-4D5F-B618-7E9E7E6074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8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DB5EC-67EB-4D44-892E-D5DCA98867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A8F9-E0FF-4D5F-B618-7E9E7E6074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5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DB5EC-67EB-4D44-892E-D5DCA98867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A8F9-E0FF-4D5F-B618-7E9E7E6074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9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DB5EC-67EB-4D44-892E-D5DCA98867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A8F9-E0FF-4D5F-B618-7E9E7E6074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409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DB5EC-67EB-4D44-892E-D5DCA98867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A8F9-E0FF-4D5F-B618-7E9E7E6074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6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DB5EC-67EB-4D44-892E-D5DCA98867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AA8F9-E0FF-4D5F-B618-7E9E7E6074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79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DB5EC-67EB-4D44-892E-D5DCA988672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AA8F9-E0FF-4D5F-B618-7E9E7E6074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18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Arquitectura de Computadoras</a:t>
            </a:r>
            <a:endParaRPr lang="es-SV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4800" b="1" dirty="0" smtClean="0">
                <a:solidFill>
                  <a:schemeClr val="accent2">
                    <a:lumMod val="75000"/>
                  </a:schemeClr>
                </a:solidFill>
              </a:rPr>
              <a:t>“Direccionamiento Relativo”</a:t>
            </a:r>
            <a:endParaRPr lang="es-SV" sz="4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027" name="Picture 3" descr="C:\Users\PC-18\Desktop\Escudo_de_la_Universidad_de_El_Salvador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0180" y="13842"/>
            <a:ext cx="827653" cy="102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52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SV" dirty="0"/>
              <a:t>Direccionamiento relativo</a:t>
            </a:r>
            <a:br>
              <a:rPr lang="es-SV" dirty="0"/>
            </a:b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s-SV" dirty="0" smtClean="0"/>
              <a:t>En </a:t>
            </a:r>
            <a:r>
              <a:rPr lang="es-SV" b="1" dirty="0"/>
              <a:t>x_86</a:t>
            </a:r>
            <a:r>
              <a:rPr lang="es-SV" dirty="0"/>
              <a:t> tenemos muchas mas formas de direccionar datos en memoria (lo cual es bueno).</a:t>
            </a:r>
          </a:p>
          <a:p>
            <a:pPr algn="just"/>
            <a:r>
              <a:rPr lang="es-SV" dirty="0"/>
              <a:t>Los </a:t>
            </a:r>
            <a:r>
              <a:rPr lang="es-SV" dirty="0" smtClean="0"/>
              <a:t>paréntesis </a:t>
            </a:r>
            <a:r>
              <a:rPr lang="es-SV" dirty="0"/>
              <a:t>cuadrados denotan direccionamiento indirecto, la </a:t>
            </a:r>
            <a:r>
              <a:rPr lang="es-SV" dirty="0" smtClean="0"/>
              <a:t>dirección </a:t>
            </a:r>
            <a:r>
              <a:rPr lang="es-SV" dirty="0"/>
              <a:t>destino se encuentra dentro de los </a:t>
            </a:r>
            <a:r>
              <a:rPr lang="es-SV" dirty="0" smtClean="0"/>
              <a:t>paréntesis.</a:t>
            </a:r>
            <a:endParaRPr lang="es-SV" dirty="0"/>
          </a:p>
          <a:p>
            <a:pPr algn="just"/>
            <a:r>
              <a:rPr lang="es-SV" b="1" dirty="0" err="1"/>
              <a:t>mov</a:t>
            </a:r>
            <a:r>
              <a:rPr lang="es-SV" b="1" dirty="0"/>
              <a:t> </a:t>
            </a:r>
            <a:r>
              <a:rPr lang="es-SV" b="1" dirty="0" err="1"/>
              <a:t>rsi</a:t>
            </a:r>
            <a:r>
              <a:rPr lang="es-SV" b="1" dirty="0"/>
              <a:t>,[</a:t>
            </a:r>
            <a:r>
              <a:rPr lang="es-SV" b="1" dirty="0" err="1"/>
              <a:t>rax</a:t>
            </a:r>
            <a:r>
              <a:rPr lang="es-SV" b="1" dirty="0"/>
              <a:t>] </a:t>
            </a:r>
            <a:r>
              <a:rPr lang="es-SV" dirty="0"/>
              <a:t>copia los contenidos de memoria de la </a:t>
            </a:r>
            <a:r>
              <a:rPr lang="es-SV" dirty="0" smtClean="0"/>
              <a:t>dirección </a:t>
            </a:r>
            <a:r>
              <a:rPr lang="es-SV" dirty="0"/>
              <a:t>almacenada en </a:t>
            </a:r>
            <a:r>
              <a:rPr lang="es-SV" b="1" dirty="0" err="1"/>
              <a:t>rax</a:t>
            </a:r>
            <a:r>
              <a:rPr lang="es-SV" dirty="0"/>
              <a:t>. Notar que la copia son de </a:t>
            </a:r>
            <a:r>
              <a:rPr lang="es-SV" b="1" dirty="0"/>
              <a:t>8 bytes.</a:t>
            </a:r>
          </a:p>
          <a:p>
            <a:pPr algn="just"/>
            <a:r>
              <a:rPr lang="es-SV" dirty="0"/>
              <a:t>Es importante entender las diferencias entre </a:t>
            </a:r>
            <a:r>
              <a:rPr lang="es-SV" b="1" dirty="0"/>
              <a:t>lea</a:t>
            </a:r>
            <a:r>
              <a:rPr lang="es-SV" dirty="0"/>
              <a:t> y </a:t>
            </a:r>
            <a:r>
              <a:rPr lang="es-SV" b="1" dirty="0" err="1"/>
              <a:t>mov</a:t>
            </a:r>
            <a:r>
              <a:rPr lang="es-SV" dirty="0"/>
              <a:t>.</a:t>
            </a:r>
          </a:p>
          <a:p>
            <a:pPr algn="just"/>
            <a:r>
              <a:rPr lang="es-SV" dirty="0"/>
              <a:t>Veamos el siguiente ejemplo en donde se expone las diferencias.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44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Direccionamiento</a:t>
            </a:r>
            <a:r>
              <a:rPr lang="en-US" dirty="0" smtClean="0"/>
              <a:t> </a:t>
            </a:r>
            <a:r>
              <a:rPr lang="en-US" dirty="0" err="1" smtClean="0"/>
              <a:t>Relativo</a:t>
            </a:r>
            <a:endParaRPr lang="en-US" dirty="0"/>
          </a:p>
        </p:txBody>
      </p:sp>
      <p:sp>
        <p:nvSpPr>
          <p:cNvPr id="4" name="3 Rectángulo"/>
          <p:cNvSpPr/>
          <p:nvPr/>
        </p:nvSpPr>
        <p:spPr>
          <a:xfrm>
            <a:off x="5257800" y="2218353"/>
            <a:ext cx="2819400" cy="2819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64</a:t>
            </a:r>
            <a:endParaRPr lang="en-US" dirty="0"/>
          </a:p>
        </p:txBody>
      </p:sp>
      <p:cxnSp>
        <p:nvCxnSpPr>
          <p:cNvPr id="6" name="5 Conector recto"/>
          <p:cNvCxnSpPr/>
          <p:nvPr/>
        </p:nvCxnSpPr>
        <p:spPr>
          <a:xfrm>
            <a:off x="5257800" y="2743200"/>
            <a:ext cx="281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7 Conector recto"/>
          <p:cNvCxnSpPr/>
          <p:nvPr/>
        </p:nvCxnSpPr>
        <p:spPr>
          <a:xfrm>
            <a:off x="5257800" y="3276600"/>
            <a:ext cx="281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9 Conector recto"/>
          <p:cNvCxnSpPr/>
          <p:nvPr/>
        </p:nvCxnSpPr>
        <p:spPr>
          <a:xfrm>
            <a:off x="5257800" y="3886200"/>
            <a:ext cx="281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"/>
          <p:cNvCxnSpPr/>
          <p:nvPr/>
        </p:nvCxnSpPr>
        <p:spPr>
          <a:xfrm>
            <a:off x="5257800" y="4419600"/>
            <a:ext cx="2819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12 CuadroTexto"/>
          <p:cNvSpPr txBox="1"/>
          <p:nvPr/>
        </p:nvSpPr>
        <p:spPr>
          <a:xfrm>
            <a:off x="6400800" y="34433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64</a:t>
            </a:r>
            <a:endParaRPr lang="en-US" dirty="0"/>
          </a:p>
        </p:txBody>
      </p:sp>
      <p:sp>
        <p:nvSpPr>
          <p:cNvPr id="14" name="13 CuadroTexto"/>
          <p:cNvSpPr txBox="1"/>
          <p:nvPr/>
        </p:nvSpPr>
        <p:spPr>
          <a:xfrm>
            <a:off x="4605057" y="359306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4000</a:t>
            </a:r>
            <a:endParaRPr lang="en-US" dirty="0"/>
          </a:p>
        </p:txBody>
      </p:sp>
      <p:sp>
        <p:nvSpPr>
          <p:cNvPr id="15" name="14 CuadroTexto"/>
          <p:cNvSpPr txBox="1"/>
          <p:nvPr/>
        </p:nvSpPr>
        <p:spPr>
          <a:xfrm>
            <a:off x="685800" y="2438400"/>
            <a:ext cx="1051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rax</a:t>
            </a:r>
            <a:r>
              <a:rPr lang="en-US" dirty="0" smtClean="0"/>
              <a:t>=4000</a:t>
            </a:r>
            <a:endParaRPr lang="en-US" dirty="0"/>
          </a:p>
        </p:txBody>
      </p:sp>
      <p:sp>
        <p:nvSpPr>
          <p:cNvPr id="16" name="15 CuadroTexto"/>
          <p:cNvSpPr txBox="1"/>
          <p:nvPr/>
        </p:nvSpPr>
        <p:spPr>
          <a:xfrm>
            <a:off x="730994" y="3147536"/>
            <a:ext cx="1390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mov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 smtClean="0"/>
              <a:t>rbx</a:t>
            </a:r>
            <a:r>
              <a:rPr lang="en-US" dirty="0" smtClean="0"/>
              <a:t>, </a:t>
            </a:r>
            <a:r>
              <a:rPr lang="en-US" dirty="0" err="1" smtClean="0"/>
              <a:t>rax</a:t>
            </a:r>
            <a:endParaRPr lang="en-US" dirty="0"/>
          </a:p>
        </p:txBody>
      </p:sp>
      <p:sp>
        <p:nvSpPr>
          <p:cNvPr id="17" name="16 CuadroTexto"/>
          <p:cNvSpPr txBox="1"/>
          <p:nvPr/>
        </p:nvSpPr>
        <p:spPr>
          <a:xfrm>
            <a:off x="730994" y="4416490"/>
            <a:ext cx="1531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mov</a:t>
            </a:r>
            <a:r>
              <a:rPr lang="en-US" dirty="0" smtClean="0"/>
              <a:t>  </a:t>
            </a:r>
            <a:r>
              <a:rPr lang="en-US" dirty="0" err="1" smtClean="0"/>
              <a:t>rbx</a:t>
            </a:r>
            <a:r>
              <a:rPr lang="en-US" dirty="0" smtClean="0"/>
              <a:t>, [</a:t>
            </a:r>
            <a:r>
              <a:rPr lang="en-US" dirty="0" err="1" smtClean="0"/>
              <a:t>rax</a:t>
            </a:r>
            <a:r>
              <a:rPr lang="en-US" dirty="0" smtClean="0"/>
              <a:t>]</a:t>
            </a:r>
            <a:endParaRPr lang="en-US" dirty="0"/>
          </a:p>
        </p:txBody>
      </p:sp>
      <p:cxnSp>
        <p:nvCxnSpPr>
          <p:cNvPr id="19" name="18 Conector recto de flecha"/>
          <p:cNvCxnSpPr/>
          <p:nvPr/>
        </p:nvCxnSpPr>
        <p:spPr>
          <a:xfrm>
            <a:off x="1981200" y="2743200"/>
            <a:ext cx="3091143" cy="5890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 de flecha"/>
          <p:cNvCxnSpPr/>
          <p:nvPr/>
        </p:nvCxnSpPr>
        <p:spPr>
          <a:xfrm>
            <a:off x="2262504" y="3516868"/>
            <a:ext cx="280983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CuadroTexto"/>
          <p:cNvSpPr txBox="1"/>
          <p:nvPr/>
        </p:nvSpPr>
        <p:spPr>
          <a:xfrm>
            <a:off x="5353718" y="1676400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Memoria</a:t>
            </a:r>
            <a:endParaRPr lang="en-US" dirty="0"/>
          </a:p>
        </p:txBody>
      </p:sp>
      <p:sp>
        <p:nvSpPr>
          <p:cNvPr id="29" name="28 CuadroTexto"/>
          <p:cNvSpPr txBox="1"/>
          <p:nvPr/>
        </p:nvSpPr>
        <p:spPr>
          <a:xfrm>
            <a:off x="3839547" y="3940924"/>
            <a:ext cx="13452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Direccion </a:t>
            </a:r>
          </a:p>
          <a:p>
            <a:r>
              <a:rPr lang="en-US" dirty="0" smtClean="0"/>
              <a:t>De Memoria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47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838200" y="304800"/>
            <a:ext cx="7772400" cy="1470025"/>
          </a:xfrm>
        </p:spPr>
        <p:txBody>
          <a:bodyPr/>
          <a:lstStyle/>
          <a:p>
            <a:r>
              <a:rPr lang="en-US" dirty="0" err="1" smtClean="0"/>
              <a:t>Flujo</a:t>
            </a:r>
            <a:r>
              <a:rPr lang="en-US" dirty="0"/>
              <a:t> </a:t>
            </a:r>
            <a:r>
              <a:rPr lang="en-US" dirty="0" smtClean="0"/>
              <a:t>de </a:t>
            </a:r>
            <a:r>
              <a:rPr lang="en-US" dirty="0" err="1" smtClean="0"/>
              <a:t>Ejecucion</a:t>
            </a:r>
            <a:endParaRPr lang="en-US" dirty="0"/>
          </a:p>
        </p:txBody>
      </p:sp>
      <p:sp>
        <p:nvSpPr>
          <p:cNvPr id="6" name="5 Subtítulo"/>
          <p:cNvSpPr>
            <a:spLocks noGrp="1"/>
          </p:cNvSpPr>
          <p:nvPr>
            <p:ph type="subTitle" idx="1"/>
          </p:nvPr>
        </p:nvSpPr>
        <p:spPr>
          <a:xfrm>
            <a:off x="838200" y="1981200"/>
            <a:ext cx="7315200" cy="3962400"/>
          </a:xfrm>
        </p:spPr>
        <p:txBody>
          <a:bodyPr>
            <a:normAutofit lnSpcReduction="10000"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SV" dirty="0">
                <a:solidFill>
                  <a:schemeClr val="tx1"/>
                </a:solidFill>
              </a:rPr>
              <a:t>Tenemos la </a:t>
            </a:r>
            <a:r>
              <a:rPr lang="es-SV" dirty="0" smtClean="0">
                <a:solidFill>
                  <a:schemeClr val="tx1"/>
                </a:solidFill>
              </a:rPr>
              <a:t>instrucción </a:t>
            </a:r>
            <a:r>
              <a:rPr lang="es-SV" b="1" dirty="0" err="1">
                <a:solidFill>
                  <a:schemeClr val="tx1"/>
                </a:solidFill>
              </a:rPr>
              <a:t>jmp</a:t>
            </a:r>
            <a:r>
              <a:rPr lang="es-SV" dirty="0">
                <a:solidFill>
                  <a:schemeClr val="tx1"/>
                </a:solidFill>
              </a:rPr>
              <a:t> para saltos incondicionales, su </a:t>
            </a:r>
            <a:r>
              <a:rPr lang="es-SV" dirty="0" smtClean="0">
                <a:solidFill>
                  <a:schemeClr val="tx1"/>
                </a:solidFill>
              </a:rPr>
              <a:t>función </a:t>
            </a:r>
            <a:r>
              <a:rPr lang="es-SV" dirty="0">
                <a:solidFill>
                  <a:schemeClr val="tx1"/>
                </a:solidFill>
              </a:rPr>
              <a:t>es equivalente a</a:t>
            </a:r>
            <a:r>
              <a:rPr lang="es-SV" b="1" dirty="0">
                <a:solidFill>
                  <a:schemeClr val="tx1"/>
                </a:solidFill>
              </a:rPr>
              <a:t>: </a:t>
            </a:r>
            <a:r>
              <a:rPr lang="es-SV" b="1" dirty="0" err="1">
                <a:solidFill>
                  <a:schemeClr val="tx1"/>
                </a:solidFill>
              </a:rPr>
              <a:t>mov</a:t>
            </a:r>
            <a:r>
              <a:rPr lang="es-SV" b="1" dirty="0">
                <a:solidFill>
                  <a:schemeClr val="tx1"/>
                </a:solidFill>
              </a:rPr>
              <a:t> </a:t>
            </a:r>
            <a:r>
              <a:rPr lang="es-SV" b="1" dirty="0" err="1">
                <a:solidFill>
                  <a:schemeClr val="tx1"/>
                </a:solidFill>
              </a:rPr>
              <a:t>rip</a:t>
            </a:r>
            <a:r>
              <a:rPr lang="es-SV" b="1" dirty="0">
                <a:solidFill>
                  <a:schemeClr val="tx1"/>
                </a:solidFill>
              </a:rPr>
              <a:t>, </a:t>
            </a:r>
            <a:r>
              <a:rPr lang="es-SV" b="1" dirty="0" err="1">
                <a:solidFill>
                  <a:schemeClr val="tx1"/>
                </a:solidFill>
              </a:rPr>
              <a:t>addr</a:t>
            </a:r>
            <a:r>
              <a:rPr lang="es-SV" b="1" dirty="0">
                <a:solidFill>
                  <a:schemeClr val="tx1"/>
                </a:solidFill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s-SV" dirty="0">
              <a:solidFill>
                <a:schemeClr val="tx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SV" dirty="0">
                <a:solidFill>
                  <a:schemeClr val="tx1"/>
                </a:solidFill>
              </a:rPr>
              <a:t>Para los saltos condicionales se hace uso del registro </a:t>
            </a:r>
            <a:r>
              <a:rPr lang="es-SV" b="1" dirty="0" err="1">
                <a:solidFill>
                  <a:schemeClr val="tx1"/>
                </a:solidFill>
              </a:rPr>
              <a:t>rflags</a:t>
            </a:r>
            <a:r>
              <a:rPr lang="es-SV" b="1" dirty="0">
                <a:solidFill>
                  <a:schemeClr val="tx1"/>
                </a:solidFill>
              </a:rPr>
              <a:t>.</a:t>
            </a:r>
            <a:r>
              <a:rPr lang="es-SV" dirty="0">
                <a:solidFill>
                  <a:schemeClr val="tx1"/>
                </a:solidFill>
              </a:rPr>
              <a:t> Por ejemplo, </a:t>
            </a:r>
            <a:r>
              <a:rPr lang="es-SV" b="1" dirty="0" err="1">
                <a:solidFill>
                  <a:schemeClr val="tx1"/>
                </a:solidFill>
              </a:rPr>
              <a:t>jz</a:t>
            </a:r>
            <a:r>
              <a:rPr lang="es-SV" dirty="0">
                <a:solidFill>
                  <a:schemeClr val="tx1"/>
                </a:solidFill>
              </a:rPr>
              <a:t> realiza el salto </a:t>
            </a:r>
            <a:r>
              <a:rPr lang="es-SV" dirty="0" err="1">
                <a:solidFill>
                  <a:schemeClr val="tx1"/>
                </a:solidFill>
              </a:rPr>
              <a:t>unicamente</a:t>
            </a:r>
            <a:r>
              <a:rPr lang="es-SV" dirty="0">
                <a:solidFill>
                  <a:schemeClr val="tx1"/>
                </a:solidFill>
              </a:rPr>
              <a:t> si la bandera </a:t>
            </a:r>
            <a:r>
              <a:rPr lang="es-SV" b="1" dirty="0" err="1">
                <a:solidFill>
                  <a:schemeClr val="tx1"/>
                </a:solidFill>
              </a:rPr>
              <a:t>zero</a:t>
            </a:r>
            <a:r>
              <a:rPr lang="es-SV" b="1" dirty="0">
                <a:solidFill>
                  <a:schemeClr val="tx1"/>
                </a:solidFill>
              </a:rPr>
              <a:t> </a:t>
            </a:r>
            <a:r>
              <a:rPr lang="es-SV" dirty="0">
                <a:solidFill>
                  <a:schemeClr val="tx1"/>
                </a:solidFill>
              </a:rPr>
              <a:t>esta en la 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99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525963"/>
          </a:xfrm>
        </p:spPr>
        <p:txBody>
          <a:bodyPr/>
          <a:lstStyle/>
          <a:p>
            <a:r>
              <a:rPr lang="es-SV" dirty="0" smtClean="0"/>
              <a:t>Generalmente se utilizan las instrucciones test y </a:t>
            </a:r>
            <a:r>
              <a:rPr lang="es-SV" b="1" dirty="0" err="1" smtClean="0"/>
              <a:t>cmp</a:t>
            </a:r>
            <a:r>
              <a:rPr lang="es-SV" b="1" dirty="0" smtClean="0"/>
              <a:t> </a:t>
            </a:r>
            <a:r>
              <a:rPr lang="es-SV" dirty="0" smtClean="0"/>
              <a:t>para configurar las banderas necesarias, se usa en conjunto con el </a:t>
            </a:r>
            <a:r>
              <a:rPr lang="es-SV" b="1" dirty="0" err="1" smtClean="0"/>
              <a:t>jump</a:t>
            </a:r>
            <a:r>
              <a:rPr lang="es-SV" dirty="0" smtClean="0"/>
              <a:t> condicional.</a:t>
            </a:r>
          </a:p>
          <a:p>
            <a:endParaRPr lang="es-SV" dirty="0" smtClean="0"/>
          </a:p>
          <a:p>
            <a:r>
              <a:rPr lang="es-SV" b="1" dirty="0" err="1" smtClean="0"/>
              <a:t>cmp</a:t>
            </a:r>
            <a:r>
              <a:rPr lang="es-SV" dirty="0" smtClean="0"/>
              <a:t> compara el Segundo operando con el primero,  no almacena el resultado en ningún lado pero configura la bandera acorde en </a:t>
            </a:r>
            <a:r>
              <a:rPr lang="es-SV" b="1" dirty="0" err="1" smtClean="0"/>
              <a:t>rflags</a:t>
            </a:r>
            <a:r>
              <a:rPr lang="es-SV" dirty="0" smtClean="0"/>
              <a:t> (</a:t>
            </a:r>
            <a:r>
              <a:rPr lang="es-SV" b="1" dirty="0" smtClean="0"/>
              <a:t>la bandera </a:t>
            </a:r>
            <a:r>
              <a:rPr lang="es-SV" b="1" dirty="0" err="1" smtClean="0"/>
              <a:t>zero</a:t>
            </a:r>
            <a:r>
              <a:rPr lang="es-SV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93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3429000"/>
            <a:ext cx="8229600" cy="2697163"/>
          </a:xfrm>
        </p:spPr>
        <p:txBody>
          <a:bodyPr/>
          <a:lstStyle/>
          <a:p>
            <a:r>
              <a:rPr lang="es-SV" dirty="0" smtClean="0"/>
              <a:t>Deben estudiar todas las posibles instrucciones tipo </a:t>
            </a:r>
            <a:r>
              <a:rPr lang="es-SV" b="1" dirty="0" err="1" smtClean="0"/>
              <a:t>jump</a:t>
            </a:r>
            <a:r>
              <a:rPr lang="es-SV" dirty="0" smtClean="0"/>
              <a:t> para realizar saltos condicionales.</a:t>
            </a:r>
          </a:p>
          <a:p>
            <a:r>
              <a:rPr lang="es-SV" dirty="0" smtClean="0"/>
              <a:t>Por ejemplo, cual es la diferencia entre </a:t>
            </a:r>
            <a:r>
              <a:rPr lang="es-SV" b="1" dirty="0" err="1" smtClean="0"/>
              <a:t>jz</a:t>
            </a:r>
            <a:r>
              <a:rPr lang="es-SV" dirty="0" smtClean="0"/>
              <a:t> y </a:t>
            </a:r>
            <a:r>
              <a:rPr lang="es-SV" b="1" dirty="0" smtClean="0"/>
              <a:t>je.</a:t>
            </a:r>
            <a:endParaRPr lang="en-US" b="1" dirty="0"/>
          </a:p>
        </p:txBody>
      </p:sp>
      <p:pic>
        <p:nvPicPr>
          <p:cNvPr id="1026" name="Picture 2" descr="C:\Users\Rosalba\Desktop\ejemplo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5334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151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Llamadas</a:t>
            </a:r>
            <a:r>
              <a:rPr lang="en-US" dirty="0" smtClean="0"/>
              <a:t> a </a:t>
            </a:r>
            <a:r>
              <a:rPr lang="en-US" dirty="0" err="1" smtClean="0"/>
              <a:t>Funciones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SV" dirty="0" smtClean="0"/>
              <a:t>Es completamente necesario e indispensable que usen funciones para su proyecto programado.</a:t>
            </a:r>
          </a:p>
          <a:p>
            <a:r>
              <a:rPr lang="es-SV" dirty="0" smtClean="0"/>
              <a:t>Es a partir de este principio que se pueden generar programas de mayor complejidad.</a:t>
            </a:r>
          </a:p>
          <a:p>
            <a:r>
              <a:rPr lang="es-SV" dirty="0" smtClean="0"/>
              <a:t>La instrucción que se utiliza es </a:t>
            </a:r>
            <a:r>
              <a:rPr lang="es-SV" b="1" dirty="0" err="1" smtClean="0"/>
              <a:t>call</a:t>
            </a:r>
            <a:r>
              <a:rPr lang="es-SV" b="1" dirty="0" smtClean="0"/>
              <a:t>&lt;</a:t>
            </a:r>
            <a:r>
              <a:rPr lang="es-SV" b="1" dirty="0" err="1" smtClean="0"/>
              <a:t>direccion</a:t>
            </a:r>
            <a:r>
              <a:rPr lang="es-SV" b="1" dirty="0" smtClean="0"/>
              <a:t>&gt;</a:t>
            </a:r>
            <a:r>
              <a:rPr lang="es-SV" dirty="0" smtClean="0"/>
              <a:t>, la cual ejecuta lo siguiente:</a:t>
            </a:r>
          </a:p>
          <a:p>
            <a:pPr marL="0" indent="0">
              <a:buNone/>
            </a:pPr>
            <a:r>
              <a:rPr lang="es-SV" b="1" dirty="0" smtClean="0"/>
              <a:t>		</a:t>
            </a:r>
            <a:r>
              <a:rPr lang="es-SV" b="1" dirty="0" err="1" smtClean="0"/>
              <a:t>push</a:t>
            </a:r>
            <a:r>
              <a:rPr lang="es-SV" b="1" dirty="0" smtClean="0"/>
              <a:t> </a:t>
            </a:r>
            <a:r>
              <a:rPr lang="es-SV" b="1" dirty="0" err="1" smtClean="0"/>
              <a:t>rip</a:t>
            </a:r>
            <a:r>
              <a:rPr lang="es-SV" b="1" dirty="0"/>
              <a:t>	</a:t>
            </a:r>
            <a:endParaRPr lang="es-SV" b="1" dirty="0" smtClean="0"/>
          </a:p>
          <a:p>
            <a:pPr marL="0" indent="0">
              <a:buNone/>
            </a:pPr>
            <a:r>
              <a:rPr lang="es-SV" b="1" dirty="0"/>
              <a:t>	</a:t>
            </a:r>
            <a:r>
              <a:rPr lang="es-SV" b="1" dirty="0" smtClean="0"/>
              <a:t>	</a:t>
            </a:r>
            <a:r>
              <a:rPr lang="es-SV" b="1" dirty="0" err="1" smtClean="0"/>
              <a:t>jmp</a:t>
            </a:r>
            <a:r>
              <a:rPr lang="es-SV" b="1" dirty="0" smtClean="0"/>
              <a:t> &lt;</a:t>
            </a:r>
            <a:r>
              <a:rPr lang="es-SV" b="1" dirty="0" err="1" smtClean="0"/>
              <a:t>direccion</a:t>
            </a:r>
            <a:r>
              <a:rPr lang="es-SV" b="1" dirty="0" smtClean="0"/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92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 smtClean="0"/>
              <a:t>La dirección guardada en el </a:t>
            </a:r>
            <a:r>
              <a:rPr lang="es-SV" b="1" dirty="0" err="1" smtClean="0"/>
              <a:t>stack</a:t>
            </a:r>
            <a:r>
              <a:rPr lang="es-SV" b="1" dirty="0" smtClean="0"/>
              <a:t>(</a:t>
            </a:r>
            <a:r>
              <a:rPr lang="es-SV" b="1" dirty="0" err="1" smtClean="0"/>
              <a:t>rip</a:t>
            </a:r>
            <a:r>
              <a:rPr lang="es-SV" b="1" dirty="0" smtClean="0"/>
              <a:t>) </a:t>
            </a:r>
            <a:r>
              <a:rPr lang="es-SV" dirty="0" smtClean="0"/>
              <a:t>es la dirección de retorno.</a:t>
            </a:r>
          </a:p>
          <a:p>
            <a:r>
              <a:rPr lang="es-SV" dirty="0" smtClean="0"/>
              <a:t>Cualquier función puede aceptar un numero ilimitado de argumentos.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691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 smtClean="0"/>
              <a:t>Los primeros 6 argumentos son pasados en </a:t>
            </a:r>
            <a:r>
              <a:rPr lang="es-SV" b="1" dirty="0" err="1" smtClean="0"/>
              <a:t>rdi</a:t>
            </a:r>
            <a:r>
              <a:rPr lang="es-SV" b="1" dirty="0" smtClean="0"/>
              <a:t>, </a:t>
            </a:r>
            <a:r>
              <a:rPr lang="es-SV" b="1" dirty="0" err="1" smtClean="0"/>
              <a:t>rsi</a:t>
            </a:r>
            <a:r>
              <a:rPr lang="es-SV" b="1" dirty="0" smtClean="0"/>
              <a:t>, </a:t>
            </a:r>
            <a:r>
              <a:rPr lang="es-SV" b="1" dirty="0" err="1" smtClean="0"/>
              <a:t>rdx</a:t>
            </a:r>
            <a:r>
              <a:rPr lang="es-SV" b="1" dirty="0" smtClean="0"/>
              <a:t>, </a:t>
            </a:r>
            <a:r>
              <a:rPr lang="es-SV" b="1" dirty="0" err="1" smtClean="0"/>
              <a:t>rcx</a:t>
            </a:r>
            <a:r>
              <a:rPr lang="es-SV" b="1" dirty="0" smtClean="0"/>
              <a:t>, r8 </a:t>
            </a:r>
            <a:r>
              <a:rPr lang="es-SV" dirty="0" smtClean="0"/>
              <a:t>y </a:t>
            </a:r>
            <a:r>
              <a:rPr lang="es-SV" b="1" dirty="0" smtClean="0"/>
              <a:t>r9</a:t>
            </a:r>
          </a:p>
          <a:p>
            <a:r>
              <a:rPr lang="es-SV" dirty="0" smtClean="0"/>
              <a:t>El resto se pasan a través del </a:t>
            </a:r>
            <a:r>
              <a:rPr lang="es-SV" dirty="0" err="1" smtClean="0"/>
              <a:t>stack</a:t>
            </a:r>
            <a:r>
              <a:rPr lang="es-SV" dirty="0" smtClean="0"/>
              <a:t> en orden inverso.</a:t>
            </a:r>
          </a:p>
          <a:p>
            <a:r>
              <a:rPr lang="es-SV" dirty="0" smtClean="0"/>
              <a:t>El fin de una rutina no es algo que necesariamente este definido, sin embargo, nosotros lo vamos a denotar como el momento en que se ejecuta la </a:t>
            </a:r>
            <a:r>
              <a:rPr lang="es-SV" dirty="0" err="1" smtClean="0"/>
              <a:t>instruccion</a:t>
            </a:r>
            <a:r>
              <a:rPr lang="es-SV" dirty="0" smtClean="0"/>
              <a:t> </a:t>
            </a:r>
            <a:r>
              <a:rPr lang="es-SV" b="1" dirty="0" err="1" smtClean="0"/>
              <a:t>ret</a:t>
            </a:r>
            <a:r>
              <a:rPr lang="es-SV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018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 smtClean="0"/>
              <a:t>El mecanismo de </a:t>
            </a:r>
            <a:r>
              <a:rPr lang="es-SV" b="1" dirty="0" err="1" smtClean="0"/>
              <a:t>call</a:t>
            </a:r>
            <a:r>
              <a:rPr lang="es-SV" dirty="0" smtClean="0"/>
              <a:t> y </a:t>
            </a:r>
            <a:r>
              <a:rPr lang="es-SV" b="1" dirty="0" err="1" smtClean="0"/>
              <a:t>ret</a:t>
            </a:r>
            <a:r>
              <a:rPr lang="es-SV" dirty="0" smtClean="0"/>
              <a:t> es frágil y debemos estar bastante seguros de que estamos gestionando el </a:t>
            </a:r>
            <a:r>
              <a:rPr lang="es-SV" dirty="0" err="1" smtClean="0"/>
              <a:t>stack</a:t>
            </a:r>
            <a:r>
              <a:rPr lang="es-SV" dirty="0" smtClean="0"/>
              <a:t> de manera correcta.</a:t>
            </a:r>
          </a:p>
          <a:p>
            <a:endParaRPr lang="es-SV" dirty="0" smtClean="0"/>
          </a:p>
          <a:p>
            <a:r>
              <a:rPr lang="es-SV" dirty="0" smtClean="0"/>
              <a:t>No debemos invocar </a:t>
            </a:r>
            <a:r>
              <a:rPr lang="es-SV" b="1" dirty="0" err="1" smtClean="0"/>
              <a:t>ret</a:t>
            </a:r>
            <a:r>
              <a:rPr lang="es-SV" dirty="0" smtClean="0"/>
              <a:t> antes de que el </a:t>
            </a:r>
            <a:r>
              <a:rPr lang="es-SV" dirty="0" err="1" smtClean="0"/>
              <a:t>stack</a:t>
            </a:r>
            <a:r>
              <a:rPr lang="es-SV" dirty="0" smtClean="0"/>
              <a:t> se encuentre exactamente igual de como estaba al inicio de la función.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657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Preservacion</a:t>
            </a:r>
            <a:r>
              <a:rPr lang="en-US" dirty="0" smtClean="0"/>
              <a:t> de </a:t>
            </a:r>
            <a:r>
              <a:rPr lang="en-US" dirty="0" err="1" smtClean="0"/>
              <a:t>registros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SV" dirty="0" smtClean="0"/>
              <a:t>La función llamada es la encargada de restaurar los contenidos de estos registros.</a:t>
            </a:r>
          </a:p>
          <a:p>
            <a:pPr algn="just"/>
            <a:r>
              <a:rPr lang="es-SV" dirty="0" smtClean="0"/>
              <a:t>Si los modifica durante la ejecución de la rutina, debe dejarlos tal cual estaban al finalizar el procedimiento.</a:t>
            </a:r>
          </a:p>
          <a:p>
            <a:pPr algn="just"/>
            <a:r>
              <a:rPr lang="es-SV" dirty="0" smtClean="0"/>
              <a:t>Estos registros son </a:t>
            </a:r>
            <a:r>
              <a:rPr lang="es-SV" b="1" dirty="0" err="1" smtClean="0"/>
              <a:t>rbx</a:t>
            </a:r>
            <a:r>
              <a:rPr lang="es-SV" b="1" dirty="0" smtClean="0"/>
              <a:t>, </a:t>
            </a:r>
            <a:r>
              <a:rPr lang="es-SV" b="1" dirty="0" err="1" smtClean="0"/>
              <a:t>rbp</a:t>
            </a:r>
            <a:r>
              <a:rPr lang="es-SV" b="1" dirty="0" smtClean="0"/>
              <a:t>, </a:t>
            </a:r>
            <a:r>
              <a:rPr lang="es-SV" b="1" dirty="0" err="1" smtClean="0"/>
              <a:t>rsp</a:t>
            </a:r>
            <a:r>
              <a:rPr lang="es-SV" b="1" dirty="0" smtClean="0"/>
              <a:t>, r12-r15.</a:t>
            </a:r>
          </a:p>
          <a:p>
            <a:pPr algn="just"/>
            <a:r>
              <a:rPr lang="es-SV" dirty="0" smtClean="0"/>
              <a:t>Veremos que hay otro caso con los otros registros.</a:t>
            </a:r>
          </a:p>
          <a:p>
            <a:endParaRPr lang="es-SV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0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SV" dirty="0" smtClean="0"/>
              <a:t>Registros preservados por el que llama a la función.</a:t>
            </a:r>
          </a:p>
          <a:p>
            <a:r>
              <a:rPr lang="es-SV" dirty="0" smtClean="0"/>
              <a:t>Estos deben guardarse antes de invocar una función y Deben ser restaurados después.</a:t>
            </a:r>
          </a:p>
          <a:p>
            <a:r>
              <a:rPr lang="es-SV" dirty="0" smtClean="0"/>
              <a:t>No es necesario salvarlos ni restaurarlos si su valor no tiene importancia después de ejecutarse la función.</a:t>
            </a:r>
          </a:p>
        </p:txBody>
      </p:sp>
    </p:spTree>
    <p:extLst>
      <p:ext uri="{BB962C8B-B14F-4D97-AF65-F5344CB8AC3E}">
        <p14:creationId xmlns:p14="http://schemas.microsoft.com/office/powerpoint/2010/main" val="2161158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 smtClean="0"/>
              <a:t>Todos los otros registros que no se mencionaron, son guardados por el que llama a la función.</a:t>
            </a:r>
          </a:p>
          <a:p>
            <a:r>
              <a:rPr lang="es-SV" dirty="0" smtClean="0"/>
              <a:t>Estas dos categorías para guardar los registros son una convención, es responsabilidad del programador seguir este acuerdo.</a:t>
            </a:r>
          </a:p>
          <a:p>
            <a:r>
              <a:rPr lang="es-SV" dirty="0" smtClean="0"/>
              <a:t>Esta es una gran Fuente de bugs.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06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Retorno</a:t>
            </a:r>
            <a:r>
              <a:rPr lang="en-US" dirty="0" smtClean="0"/>
              <a:t> de </a:t>
            </a:r>
            <a:r>
              <a:rPr lang="en-US" dirty="0" err="1" smtClean="0"/>
              <a:t>valores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SV" dirty="0" smtClean="0"/>
              <a:t>Algunas funciones devuelven o retornan un valor.</a:t>
            </a:r>
          </a:p>
          <a:p>
            <a:r>
              <a:rPr lang="es-SV" dirty="0" smtClean="0"/>
              <a:t>Este valor suele ser la esencia del porque la función fue escrita y ejecutada.</a:t>
            </a:r>
          </a:p>
          <a:p>
            <a:r>
              <a:rPr lang="es-SV" dirty="0" smtClean="0"/>
              <a:t>Ejemplo una función que le damos un valor de entrada y devuelve el cuadrado de este valor.</a:t>
            </a:r>
          </a:p>
          <a:p>
            <a:r>
              <a:rPr lang="es-SV" dirty="0" smtClean="0"/>
              <a:t>Para los valores retornados se utilizan </a:t>
            </a:r>
            <a:r>
              <a:rPr lang="es-SV" b="1" dirty="0" err="1" smtClean="0"/>
              <a:t>rax</a:t>
            </a:r>
            <a:r>
              <a:rPr lang="es-SV" b="1" dirty="0" smtClean="0"/>
              <a:t> </a:t>
            </a:r>
            <a:r>
              <a:rPr lang="es-SV" dirty="0" smtClean="0"/>
              <a:t>y </a:t>
            </a:r>
            <a:r>
              <a:rPr lang="es-SV" b="1" dirty="0" err="1" smtClean="0"/>
              <a:t>rdx</a:t>
            </a:r>
            <a:r>
              <a:rPr lang="es-SV" b="1" dirty="0" smtClean="0"/>
              <a:t>.</a:t>
            </a:r>
          </a:p>
          <a:p>
            <a:r>
              <a:rPr lang="es-SV" dirty="0" smtClean="0"/>
              <a:t>Veremos mas Adelante el patrón que se debe utilizar para llamar una función.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36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Llamada</a:t>
            </a:r>
            <a:r>
              <a:rPr lang="en-US" dirty="0" smtClean="0"/>
              <a:t> a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 err="1" smtClean="0"/>
              <a:t>Funcion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SV" dirty="0" smtClean="0"/>
              <a:t>1- Salvar todos los registros que desean preservarse por el código que llama a la función (Podemos hacer </a:t>
            </a:r>
            <a:r>
              <a:rPr lang="es-SV" b="1" dirty="0" err="1" smtClean="0"/>
              <a:t>push</a:t>
            </a:r>
            <a:r>
              <a:rPr lang="es-SV" dirty="0" smtClean="0"/>
              <a:t> para eso).</a:t>
            </a:r>
          </a:p>
          <a:p>
            <a:endParaRPr lang="es-SV" dirty="0" smtClean="0"/>
          </a:p>
          <a:p>
            <a:pPr marL="0" indent="0">
              <a:buNone/>
            </a:pPr>
            <a:r>
              <a:rPr lang="es-SV" dirty="0" smtClean="0"/>
              <a:t>2- Guarda los argumentos en los registros relevantes </a:t>
            </a:r>
            <a:r>
              <a:rPr lang="es-SV" b="1" dirty="0" err="1" smtClean="0"/>
              <a:t>rdi</a:t>
            </a:r>
            <a:r>
              <a:rPr lang="es-SV" b="1" dirty="0" smtClean="0"/>
              <a:t>, </a:t>
            </a:r>
            <a:r>
              <a:rPr lang="es-SV" b="1" dirty="0" err="1" smtClean="0"/>
              <a:t>rsi</a:t>
            </a:r>
            <a:r>
              <a:rPr lang="es-SV" b="1" dirty="0" smtClean="0"/>
              <a:t>, etc.</a:t>
            </a:r>
          </a:p>
          <a:p>
            <a:endParaRPr lang="es-SV" dirty="0" smtClean="0"/>
          </a:p>
          <a:p>
            <a:pPr marL="0" indent="0">
              <a:buNone/>
            </a:pPr>
            <a:r>
              <a:rPr lang="es-SV" dirty="0" smtClean="0"/>
              <a:t>3- Invocar a la función a través de </a:t>
            </a:r>
            <a:r>
              <a:rPr lang="es-SV" b="1" dirty="0" err="1" smtClean="0"/>
              <a:t>call</a:t>
            </a:r>
            <a:r>
              <a:rPr lang="es-SV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62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SV" dirty="0" smtClean="0"/>
              <a:t>4- Cuando la llamada a la función regresa, </a:t>
            </a:r>
            <a:r>
              <a:rPr lang="es-SV" b="1" dirty="0" err="1" smtClean="0"/>
              <a:t>rax</a:t>
            </a:r>
            <a:r>
              <a:rPr lang="es-SV" b="1" dirty="0" smtClean="0"/>
              <a:t> </a:t>
            </a:r>
            <a:r>
              <a:rPr lang="es-SV" dirty="0" smtClean="0"/>
              <a:t>(y dependiendo </a:t>
            </a:r>
            <a:r>
              <a:rPr lang="es-SV" b="1" dirty="0" err="1" smtClean="0"/>
              <a:t>rdx</a:t>
            </a:r>
            <a:r>
              <a:rPr lang="es-SV" dirty="0" smtClean="0"/>
              <a:t>) va a tener el valor de retorno.</a:t>
            </a:r>
          </a:p>
          <a:p>
            <a:pPr marL="0" indent="0">
              <a:buNone/>
            </a:pPr>
            <a:endParaRPr lang="es-SV" dirty="0" smtClean="0"/>
          </a:p>
          <a:p>
            <a:pPr marL="0" indent="0">
              <a:buNone/>
            </a:pPr>
            <a:r>
              <a:rPr lang="es-SV" dirty="0" smtClean="0"/>
              <a:t>5- Restaurar los registros que fueron salvados antes de llamar a la función.</a:t>
            </a:r>
          </a:p>
          <a:p>
            <a:endParaRPr lang="es-SV" dirty="0" smtClean="0"/>
          </a:p>
          <a:p>
            <a:pPr marL="0" indent="0">
              <a:buNone/>
            </a:pPr>
            <a:r>
              <a:rPr lang="es-SV" dirty="0" smtClean="0"/>
              <a:t>Esta convención la utilizamos para poder abstraer las funciones correctamente y poderlas llamar desde cualquier lugar del código.</a:t>
            </a:r>
          </a:p>
          <a:p>
            <a:endParaRPr lang="es-SV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49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Call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SV" dirty="0" smtClean="0"/>
              <a:t>Algunas </a:t>
            </a:r>
            <a:r>
              <a:rPr lang="es-SV" b="1" dirty="0" err="1" smtClean="0"/>
              <a:t>system</a:t>
            </a:r>
            <a:r>
              <a:rPr lang="es-SV" b="1" dirty="0" smtClean="0"/>
              <a:t> </a:t>
            </a:r>
            <a:r>
              <a:rPr lang="es-SV" b="1" dirty="0" err="1" smtClean="0"/>
              <a:t>calls</a:t>
            </a:r>
            <a:r>
              <a:rPr lang="es-SV" b="1" dirty="0" smtClean="0"/>
              <a:t> </a:t>
            </a:r>
            <a:r>
              <a:rPr lang="es-SV" dirty="0" smtClean="0"/>
              <a:t>retornan valores y esto hace que se pierdan datos, lean muy bien la documentación del </a:t>
            </a:r>
            <a:r>
              <a:rPr lang="es-SV" b="1" dirty="0" err="1" smtClean="0"/>
              <a:t>syscall</a:t>
            </a:r>
            <a:r>
              <a:rPr lang="es-SV" dirty="0" smtClean="0"/>
              <a:t> antes de invocarlo.</a:t>
            </a:r>
          </a:p>
          <a:p>
            <a:endParaRPr lang="es-SV" dirty="0" smtClean="0"/>
          </a:p>
          <a:p>
            <a:r>
              <a:rPr lang="es-SV" dirty="0" smtClean="0"/>
              <a:t>Nunca usen </a:t>
            </a:r>
            <a:r>
              <a:rPr lang="es-SV" b="1" dirty="0" err="1" smtClean="0"/>
              <a:t>rbp</a:t>
            </a:r>
            <a:r>
              <a:rPr lang="es-SV" dirty="0" smtClean="0"/>
              <a:t> y </a:t>
            </a:r>
            <a:r>
              <a:rPr lang="es-SV" b="1" dirty="0" err="1" smtClean="0"/>
              <a:t>rsp</a:t>
            </a:r>
            <a:r>
              <a:rPr lang="es-SV" dirty="0" smtClean="0"/>
              <a:t>.</a:t>
            </a:r>
          </a:p>
          <a:p>
            <a:endParaRPr lang="es-SV" dirty="0" smtClean="0"/>
          </a:p>
          <a:p>
            <a:r>
              <a:rPr lang="es-SV" dirty="0" smtClean="0"/>
              <a:t>Pasarle argumentos a un </a:t>
            </a:r>
            <a:r>
              <a:rPr lang="es-SV" b="1" dirty="0" err="1" smtClean="0"/>
              <a:t>syscall</a:t>
            </a:r>
            <a:r>
              <a:rPr lang="es-SV" dirty="0" smtClean="0"/>
              <a:t> se hace diferente que a una función.</a:t>
            </a:r>
          </a:p>
          <a:p>
            <a:endParaRPr lang="es-SV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417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 smtClean="0"/>
              <a:t>Por ejemplo, el cuarto argumento se almacena en </a:t>
            </a:r>
            <a:r>
              <a:rPr lang="es-SV" b="1" dirty="0" smtClean="0"/>
              <a:t>r10</a:t>
            </a:r>
            <a:r>
              <a:rPr lang="es-SV" dirty="0" smtClean="0"/>
              <a:t>, mientras que una función acepta el cuarto argumento en </a:t>
            </a:r>
            <a:r>
              <a:rPr lang="es-SV" b="1" dirty="0" err="1" smtClean="0"/>
              <a:t>rcx</a:t>
            </a:r>
            <a:r>
              <a:rPr lang="es-SV" dirty="0" smtClean="0"/>
              <a:t>.</a:t>
            </a:r>
          </a:p>
          <a:p>
            <a:r>
              <a:rPr lang="es-SV" dirty="0" smtClean="0"/>
              <a:t>Un </a:t>
            </a:r>
            <a:r>
              <a:rPr lang="es-SV" b="1" dirty="0" err="1" smtClean="0"/>
              <a:t>syscall</a:t>
            </a:r>
            <a:r>
              <a:rPr lang="es-SV" dirty="0" smtClean="0"/>
              <a:t> no puede aceptar mas de seis argumentos.</a:t>
            </a:r>
          </a:p>
          <a:p>
            <a:r>
              <a:rPr lang="es-SV" dirty="0" smtClean="0"/>
              <a:t>Veamos un ejemplo que nos permite imprimir una línea Nueva y que recibe un numero e imprime su valor hexadecimal.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565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osalba\Desktop\ejemploarqui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1" y="685800"/>
            <a:ext cx="89916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675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Endianness</a:t>
            </a:r>
            <a:endParaRPr lang="en-US" dirty="0"/>
          </a:p>
        </p:txBody>
      </p:sp>
      <p:pic>
        <p:nvPicPr>
          <p:cNvPr id="2050" name="Picture 2" descr="C:\Users\Rosalba\Desktop\ejemploarqui1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8254787" cy="493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382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Punteros</a:t>
            </a:r>
            <a:r>
              <a:rPr lang="en-US" dirty="0" smtClean="0"/>
              <a:t> y </a:t>
            </a:r>
            <a:r>
              <a:rPr lang="en-US" dirty="0" err="1" smtClean="0"/>
              <a:t>Modos</a:t>
            </a:r>
            <a:r>
              <a:rPr lang="en-US" dirty="0" smtClean="0"/>
              <a:t> de </a:t>
            </a:r>
            <a:r>
              <a:rPr lang="en-US" dirty="0" err="1" smtClean="0"/>
              <a:t>Direccionamiento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SV" dirty="0"/>
              <a:t>Los punteros son direcciones de celdas de memoria.</a:t>
            </a:r>
          </a:p>
          <a:p>
            <a:r>
              <a:rPr lang="es-SV" dirty="0"/>
              <a:t>Pueden almacenarse en memoria o en registros.</a:t>
            </a:r>
          </a:p>
          <a:p>
            <a:r>
              <a:rPr lang="es-SV" dirty="0"/>
              <a:t>El </a:t>
            </a:r>
            <a:r>
              <a:rPr lang="es-SV" dirty="0" smtClean="0"/>
              <a:t>tamaño </a:t>
            </a:r>
            <a:r>
              <a:rPr lang="es-SV" dirty="0"/>
              <a:t>de un </a:t>
            </a:r>
            <a:r>
              <a:rPr lang="es-SV" dirty="0" smtClean="0"/>
              <a:t>puntero </a:t>
            </a:r>
            <a:r>
              <a:rPr lang="es-SV" dirty="0"/>
              <a:t>es de 8 bytes.</a:t>
            </a:r>
          </a:p>
          <a:p>
            <a:r>
              <a:rPr lang="es-SV" dirty="0"/>
              <a:t>Los datos generalmente ocupan varias celdas de memoria (direcciones consecutivas</a:t>
            </a:r>
            <a:r>
              <a:rPr lang="es-SV" dirty="0" smtClean="0"/>
              <a:t>).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1250169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Los punteros no tienen informacion sobre el tipo de datos a los que apuntan.</a:t>
            </a:r>
          </a:p>
          <a:p>
            <a:r>
              <a:rPr lang="es-SV" dirty="0"/>
              <a:t>Cuando queremos escribir en una </a:t>
            </a:r>
            <a:r>
              <a:rPr lang="es-SV" dirty="0" err="1"/>
              <a:t>ubicacion</a:t>
            </a:r>
            <a:r>
              <a:rPr lang="es-SV" dirty="0"/>
              <a:t> un valor cuyo </a:t>
            </a:r>
            <a:r>
              <a:rPr lang="es-SV" dirty="0" err="1"/>
              <a:t>tamano</a:t>
            </a:r>
            <a:r>
              <a:rPr lang="es-SV" dirty="0"/>
              <a:t> no especificamos, no se puede deducir y esto da </a:t>
            </a:r>
            <a:r>
              <a:rPr lang="es-SV" dirty="0" err="1"/>
              <a:t>errrores</a:t>
            </a:r>
            <a:r>
              <a:rPr lang="es-SV" dirty="0"/>
              <a:t> de </a:t>
            </a:r>
            <a:r>
              <a:rPr lang="es-SV" dirty="0" err="1"/>
              <a:t>compilacion</a:t>
            </a:r>
            <a:r>
              <a:rPr lang="es-SV" dirty="0"/>
              <a:t>.</a:t>
            </a:r>
          </a:p>
          <a:p>
            <a:r>
              <a:rPr lang="es-SV" dirty="0"/>
              <a:t>Ejemplo</a:t>
            </a:r>
            <a:r>
              <a:rPr lang="es-SV" b="1" dirty="0"/>
              <a:t>:  </a:t>
            </a:r>
            <a:r>
              <a:rPr lang="es-SV" b="1" dirty="0" err="1"/>
              <a:t>mov</a:t>
            </a:r>
            <a:r>
              <a:rPr lang="es-SV" b="1" dirty="0"/>
              <a:t>[variable],4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54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Rosalba\Desktop\arqui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905000"/>
            <a:ext cx="4994787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91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Direccinamiento</a:t>
            </a:r>
            <a:r>
              <a:rPr lang="en-US" dirty="0" smtClean="0"/>
              <a:t> </a:t>
            </a:r>
            <a:r>
              <a:rPr lang="en-US" dirty="0" err="1" smtClean="0"/>
              <a:t>Inmediato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SV" dirty="0"/>
              <a:t>La </a:t>
            </a:r>
            <a:r>
              <a:rPr lang="es-SV" dirty="0" smtClean="0"/>
              <a:t>instrucción </a:t>
            </a:r>
            <a:r>
              <a:rPr lang="es-SV" dirty="0"/>
              <a:t>como tal esta almacenada en memoria.</a:t>
            </a:r>
          </a:p>
          <a:p>
            <a:r>
              <a:rPr lang="es-SV" dirty="0"/>
              <a:t>Los operandos de alguna manera son sus partes.</a:t>
            </a:r>
          </a:p>
          <a:p>
            <a:r>
              <a:rPr lang="es-SV" dirty="0"/>
              <a:t>Esas partes tienen direcciones por si mismas.</a:t>
            </a:r>
          </a:p>
          <a:p>
            <a:r>
              <a:rPr lang="es-SV" dirty="0"/>
              <a:t>Muchas instrucciones contienen el valor del operando dentro de si mismas</a:t>
            </a:r>
            <a:r>
              <a:rPr lang="es-SV" dirty="0" smtClean="0"/>
              <a:t>.</a:t>
            </a:r>
          </a:p>
          <a:p>
            <a:endParaRPr lang="es-SV" dirty="0"/>
          </a:p>
          <a:p>
            <a:r>
              <a:rPr lang="es-SV" sz="4000" b="1" dirty="0"/>
              <a:t>Ejemplo.   </a:t>
            </a:r>
            <a:r>
              <a:rPr lang="es-SV" sz="4000" b="1" dirty="0" err="1"/>
              <a:t>mov</a:t>
            </a:r>
            <a:r>
              <a:rPr lang="es-SV" sz="4000" b="1" dirty="0"/>
              <a:t> rax,10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02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SV" dirty="0"/>
              <a:t>Direccionamiento por registro</a:t>
            </a:r>
            <a:br>
              <a:rPr lang="es-SV" dirty="0"/>
            </a:b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 smtClean="0"/>
              <a:t>El </a:t>
            </a:r>
            <a:r>
              <a:rPr lang="es-SV" dirty="0"/>
              <a:t>valor que del operando esta contenido en un registro.</a:t>
            </a:r>
          </a:p>
          <a:p>
            <a:r>
              <a:rPr lang="es-SV" dirty="0"/>
              <a:t>Por ejemplo si transferimos el valor de un registro a otro</a:t>
            </a:r>
            <a:r>
              <a:rPr lang="es-SV" dirty="0" smtClean="0"/>
              <a:t>.</a:t>
            </a:r>
          </a:p>
          <a:p>
            <a:endParaRPr lang="es-SV" dirty="0"/>
          </a:p>
          <a:p>
            <a:r>
              <a:rPr lang="es-SV" sz="4000" b="1" dirty="0" smtClean="0"/>
              <a:t>Ejemplo:   </a:t>
            </a:r>
            <a:r>
              <a:rPr lang="es-SV" sz="4000" b="1" dirty="0" err="1"/>
              <a:t>mov</a:t>
            </a:r>
            <a:r>
              <a:rPr lang="es-SV" sz="4000" b="1" dirty="0"/>
              <a:t> </a:t>
            </a:r>
            <a:r>
              <a:rPr lang="es-SV" sz="4000" b="1" dirty="0" err="1"/>
              <a:t>rax</a:t>
            </a:r>
            <a:r>
              <a:rPr lang="es-SV" sz="4000" b="1" dirty="0"/>
              <a:t>, </a:t>
            </a:r>
            <a:r>
              <a:rPr lang="es-SV" sz="4000" b="1" dirty="0" err="1"/>
              <a:t>rbx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06009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SV" dirty="0"/>
              <a:t>Direccionamiento de memoria directo</a:t>
            </a:r>
            <a:br>
              <a:rPr lang="es-SV" dirty="0"/>
            </a:br>
            <a:endParaRPr lang="en-US" dirty="0"/>
          </a:p>
        </p:txBody>
      </p:sp>
      <p:sp>
        <p:nvSpPr>
          <p:cNvPr id="4" name="3 Rectángulo"/>
          <p:cNvSpPr/>
          <p:nvPr/>
        </p:nvSpPr>
        <p:spPr>
          <a:xfrm>
            <a:off x="5791200" y="1600200"/>
            <a:ext cx="1905000" cy="2514600"/>
          </a:xfrm>
          <a:prstGeom prst="rect">
            <a:avLst/>
          </a:prstGeom>
          <a:solidFill>
            <a:schemeClr val="bg1"/>
          </a:solidFill>
          <a:ln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6 Conector recto"/>
          <p:cNvCxnSpPr/>
          <p:nvPr/>
        </p:nvCxnSpPr>
        <p:spPr>
          <a:xfrm>
            <a:off x="5791200" y="20574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5791200" y="24384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0 Conector recto"/>
          <p:cNvCxnSpPr/>
          <p:nvPr/>
        </p:nvCxnSpPr>
        <p:spPr>
          <a:xfrm>
            <a:off x="5791200" y="29718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CuadroTexto"/>
          <p:cNvSpPr txBox="1"/>
          <p:nvPr/>
        </p:nvSpPr>
        <p:spPr>
          <a:xfrm>
            <a:off x="6584842" y="260246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3" name="12 CuadroTexto"/>
          <p:cNvSpPr txBox="1"/>
          <p:nvPr/>
        </p:nvSpPr>
        <p:spPr>
          <a:xfrm>
            <a:off x="5105400" y="27432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14" name="13 CuadroTexto"/>
          <p:cNvSpPr txBox="1"/>
          <p:nvPr/>
        </p:nvSpPr>
        <p:spPr>
          <a:xfrm>
            <a:off x="4343399" y="2021633"/>
            <a:ext cx="467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rax</a:t>
            </a:r>
            <a:endParaRPr lang="en-US" dirty="0"/>
          </a:p>
        </p:txBody>
      </p:sp>
      <p:cxnSp>
        <p:nvCxnSpPr>
          <p:cNvPr id="18" name="17 Conector recto de flecha"/>
          <p:cNvCxnSpPr>
            <a:stCxn id="4" idx="1"/>
          </p:cNvCxnSpPr>
          <p:nvPr/>
        </p:nvCxnSpPr>
        <p:spPr>
          <a:xfrm flipH="1" flipV="1">
            <a:off x="4811348" y="2390965"/>
            <a:ext cx="979852" cy="4665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19 CuadroTexto"/>
          <p:cNvSpPr txBox="1"/>
          <p:nvPr/>
        </p:nvSpPr>
        <p:spPr>
          <a:xfrm>
            <a:off x="533400" y="1499854"/>
            <a:ext cx="350519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/>
              <a:t>mov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rax</a:t>
            </a:r>
            <a:r>
              <a:rPr lang="en-US" sz="2800" b="1" dirty="0" smtClean="0"/>
              <a:t>,[10]</a:t>
            </a:r>
          </a:p>
          <a:p>
            <a:r>
              <a:rPr lang="en-US" sz="2800" b="1" dirty="0" err="1" smtClean="0"/>
              <a:t>mov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rax</a:t>
            </a:r>
            <a:r>
              <a:rPr lang="en-US" sz="2800" b="1" dirty="0" smtClean="0"/>
              <a:t>, [</a:t>
            </a:r>
            <a:r>
              <a:rPr lang="en-US" sz="2800" b="1" dirty="0" err="1" smtClean="0"/>
              <a:t>rbx</a:t>
            </a:r>
            <a:r>
              <a:rPr lang="en-US" sz="2800" b="1" dirty="0" smtClean="0"/>
              <a:t>]</a:t>
            </a:r>
          </a:p>
          <a:p>
            <a:endParaRPr lang="en-US" dirty="0"/>
          </a:p>
        </p:txBody>
      </p:sp>
      <p:sp>
        <p:nvSpPr>
          <p:cNvPr id="21" name="20 CuadroTexto"/>
          <p:cNvSpPr txBox="1"/>
          <p:nvPr/>
        </p:nvSpPr>
        <p:spPr>
          <a:xfrm>
            <a:off x="4648200" y="5257800"/>
            <a:ext cx="35783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</a:t>
            </a:r>
            <a:r>
              <a:rPr lang="en-US" sz="2800" b="1" dirty="0" smtClean="0"/>
              <a:t>uffer: </a:t>
            </a:r>
            <a:r>
              <a:rPr lang="en-US" sz="2800" b="1" dirty="0" err="1" smtClean="0"/>
              <a:t>dq</a:t>
            </a:r>
            <a:r>
              <a:rPr lang="en-US" sz="2800" b="1" dirty="0" smtClean="0"/>
              <a:t> 8841,999,00</a:t>
            </a:r>
          </a:p>
          <a:p>
            <a:r>
              <a:rPr lang="en-US" sz="2800" b="1" dirty="0" err="1" smtClean="0"/>
              <a:t>mov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rax</a:t>
            </a:r>
            <a:r>
              <a:rPr lang="en-US" sz="2800" b="1" dirty="0" smtClean="0"/>
              <a:t>, [buffer + 8]</a:t>
            </a:r>
            <a:endParaRPr lang="en-US" sz="2800" b="1" dirty="0"/>
          </a:p>
        </p:txBody>
      </p:sp>
      <p:sp>
        <p:nvSpPr>
          <p:cNvPr id="22" name="21 Rectángulo"/>
          <p:cNvSpPr/>
          <p:nvPr/>
        </p:nvSpPr>
        <p:spPr>
          <a:xfrm>
            <a:off x="1219200" y="3581400"/>
            <a:ext cx="1905000" cy="2514600"/>
          </a:xfrm>
          <a:prstGeom prst="rect">
            <a:avLst/>
          </a:prstGeom>
          <a:solidFill>
            <a:schemeClr val="bg1"/>
          </a:solidFill>
          <a:ln cmpd="db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22 Conector recto"/>
          <p:cNvCxnSpPr/>
          <p:nvPr/>
        </p:nvCxnSpPr>
        <p:spPr>
          <a:xfrm>
            <a:off x="1219200" y="40386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"/>
          <p:cNvCxnSpPr/>
          <p:nvPr/>
        </p:nvCxnSpPr>
        <p:spPr>
          <a:xfrm>
            <a:off x="1219200" y="44958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>
            <a:off x="1219200" y="49530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"/>
          <p:cNvCxnSpPr/>
          <p:nvPr/>
        </p:nvCxnSpPr>
        <p:spPr>
          <a:xfrm>
            <a:off x="5791200" y="34290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26 Conector recto"/>
          <p:cNvCxnSpPr/>
          <p:nvPr/>
        </p:nvCxnSpPr>
        <p:spPr>
          <a:xfrm>
            <a:off x="1219200" y="5410200"/>
            <a:ext cx="190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27 CuadroTexto"/>
          <p:cNvSpPr txBox="1"/>
          <p:nvPr/>
        </p:nvSpPr>
        <p:spPr>
          <a:xfrm>
            <a:off x="1752600" y="411480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8841</a:t>
            </a:r>
            <a:endParaRPr lang="en-US" dirty="0"/>
          </a:p>
        </p:txBody>
      </p:sp>
      <p:sp>
        <p:nvSpPr>
          <p:cNvPr id="29" name="28 CuadroTexto"/>
          <p:cNvSpPr txBox="1"/>
          <p:nvPr/>
        </p:nvSpPr>
        <p:spPr>
          <a:xfrm>
            <a:off x="1869619" y="457977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99</a:t>
            </a:r>
            <a:endParaRPr lang="en-US" dirty="0"/>
          </a:p>
        </p:txBody>
      </p:sp>
      <p:sp>
        <p:nvSpPr>
          <p:cNvPr id="30" name="29 CuadroTexto"/>
          <p:cNvSpPr txBox="1"/>
          <p:nvPr/>
        </p:nvSpPr>
        <p:spPr>
          <a:xfrm>
            <a:off x="1869619" y="50408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00</a:t>
            </a:r>
            <a:endParaRPr lang="en-US" dirty="0"/>
          </a:p>
        </p:txBody>
      </p:sp>
      <p:sp>
        <p:nvSpPr>
          <p:cNvPr id="31" name="30 CuadroTexto"/>
          <p:cNvSpPr txBox="1"/>
          <p:nvPr/>
        </p:nvSpPr>
        <p:spPr>
          <a:xfrm>
            <a:off x="457597" y="3213623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buffer</a:t>
            </a:r>
            <a:endParaRPr lang="en-US" dirty="0"/>
          </a:p>
        </p:txBody>
      </p:sp>
      <p:sp>
        <p:nvSpPr>
          <p:cNvPr id="32" name="31 CuadroTexto"/>
          <p:cNvSpPr txBox="1"/>
          <p:nvPr/>
        </p:nvSpPr>
        <p:spPr>
          <a:xfrm>
            <a:off x="3429000" y="4191000"/>
            <a:ext cx="860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8 bytes</a:t>
            </a:r>
            <a:endParaRPr lang="en-US" dirty="0"/>
          </a:p>
        </p:txBody>
      </p:sp>
      <p:sp>
        <p:nvSpPr>
          <p:cNvPr id="33" name="32 CuadroTexto"/>
          <p:cNvSpPr txBox="1"/>
          <p:nvPr/>
        </p:nvSpPr>
        <p:spPr>
          <a:xfrm>
            <a:off x="3505200" y="4838700"/>
            <a:ext cx="817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rax</a:t>
            </a:r>
            <a:r>
              <a:rPr lang="en-US" dirty="0" smtClean="0"/>
              <a:t>: 99</a:t>
            </a:r>
            <a:endParaRPr lang="en-US" dirty="0"/>
          </a:p>
        </p:txBody>
      </p:sp>
      <p:sp>
        <p:nvSpPr>
          <p:cNvPr id="35" name="34 Flecha curvada hacia la derecha"/>
          <p:cNvSpPr/>
          <p:nvPr/>
        </p:nvSpPr>
        <p:spPr>
          <a:xfrm>
            <a:off x="836066" y="3733800"/>
            <a:ext cx="230734" cy="56566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52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SV" dirty="0"/>
              <a:t>Direccionamiento de memoria directo</a:t>
            </a:r>
            <a:br>
              <a:rPr lang="es-SV" dirty="0"/>
            </a:b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SV" dirty="0" smtClean="0"/>
              <a:t>Veamos </a:t>
            </a:r>
            <a:r>
              <a:rPr lang="es-SV" dirty="0"/>
              <a:t>el caso en que vamos a transferir 8 bytes de una </a:t>
            </a:r>
            <a:r>
              <a:rPr lang="es-SV" dirty="0" smtClean="0"/>
              <a:t>dirección </a:t>
            </a:r>
            <a:r>
              <a:rPr lang="es-SV" dirty="0"/>
              <a:t>de memoria a un registro.</a:t>
            </a:r>
          </a:p>
          <a:p>
            <a:pPr marL="0" indent="0">
              <a:buNone/>
            </a:pPr>
            <a:r>
              <a:rPr lang="es-SV" dirty="0"/>
              <a:t>Ejemplo:</a:t>
            </a:r>
          </a:p>
          <a:p>
            <a:endParaRPr lang="es-SV" dirty="0"/>
          </a:p>
          <a:p>
            <a:pPr marL="0" indent="0">
              <a:buNone/>
            </a:pPr>
            <a:r>
              <a:rPr lang="es-SV" b="1" dirty="0" err="1"/>
              <a:t>mov</a:t>
            </a:r>
            <a:r>
              <a:rPr lang="es-SV" b="1" dirty="0"/>
              <a:t> </a:t>
            </a:r>
            <a:r>
              <a:rPr lang="es-SV" b="1" dirty="0" err="1"/>
              <a:t>rax</a:t>
            </a:r>
            <a:r>
              <a:rPr lang="es-SV" b="1" dirty="0"/>
              <a:t>,[10]</a:t>
            </a:r>
          </a:p>
          <a:p>
            <a:pPr marL="0" indent="0">
              <a:buNone/>
            </a:pPr>
            <a:r>
              <a:rPr lang="es-SV" b="1" dirty="0" err="1"/>
              <a:t>mov</a:t>
            </a:r>
            <a:r>
              <a:rPr lang="es-SV" b="1" dirty="0"/>
              <a:t> </a:t>
            </a:r>
            <a:r>
              <a:rPr lang="es-SV" b="1" dirty="0" err="1"/>
              <a:t>rax</a:t>
            </a:r>
            <a:r>
              <a:rPr lang="es-SV" b="1" dirty="0"/>
              <a:t>,[</a:t>
            </a:r>
            <a:r>
              <a:rPr lang="es-SV" b="1" dirty="0" err="1"/>
              <a:t>rbx</a:t>
            </a:r>
            <a:r>
              <a:rPr lang="es-SV" b="1" dirty="0"/>
              <a:t>]</a:t>
            </a:r>
          </a:p>
          <a:p>
            <a:endParaRPr lang="es-SV" b="1" dirty="0"/>
          </a:p>
          <a:p>
            <a:pPr marL="0" indent="0">
              <a:buNone/>
            </a:pPr>
            <a:r>
              <a:rPr lang="es-SV" b="1" dirty="0" err="1"/>
              <a:t>buffer:dq</a:t>
            </a:r>
            <a:r>
              <a:rPr lang="es-SV" b="1" dirty="0"/>
              <a:t> 8841,99,00</a:t>
            </a:r>
          </a:p>
          <a:p>
            <a:pPr marL="0" indent="0">
              <a:buNone/>
            </a:pPr>
            <a:r>
              <a:rPr lang="es-SV" b="1" dirty="0" err="1"/>
              <a:t>mov</a:t>
            </a:r>
            <a:r>
              <a:rPr lang="es-SV" b="1" dirty="0"/>
              <a:t> </a:t>
            </a:r>
            <a:r>
              <a:rPr lang="es-SV" b="1" dirty="0" err="1"/>
              <a:t>rax</a:t>
            </a:r>
            <a:r>
              <a:rPr lang="es-SV" b="1" dirty="0"/>
              <a:t>, [buffer + 8]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5017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SV" dirty="0"/>
              <a:t>Indexado con escala y desplazamiento</a:t>
            </a:r>
            <a:br>
              <a:rPr lang="es-SV" dirty="0"/>
            </a:b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s-SV" dirty="0" smtClean="0"/>
              <a:t>Muchos </a:t>
            </a:r>
            <a:r>
              <a:rPr lang="es-SV" dirty="0"/>
              <a:t>de los nodos de direccionamiento quedan generalizados por este modo.</a:t>
            </a:r>
          </a:p>
          <a:p>
            <a:r>
              <a:rPr lang="es-SV" dirty="0"/>
              <a:t>La </a:t>
            </a:r>
            <a:r>
              <a:rPr lang="es-SV" dirty="0" smtClean="0"/>
              <a:t>dirección </a:t>
            </a:r>
            <a:r>
              <a:rPr lang="es-SV" dirty="0"/>
              <a:t>se calcula a </a:t>
            </a:r>
            <a:r>
              <a:rPr lang="es-SV" dirty="0" smtClean="0"/>
              <a:t>través </a:t>
            </a:r>
            <a:r>
              <a:rPr lang="es-SV" dirty="0"/>
              <a:t>de los siguientes </a:t>
            </a:r>
            <a:r>
              <a:rPr lang="es-SV" dirty="0" smtClean="0"/>
              <a:t>componentes.</a:t>
            </a:r>
            <a:endParaRPr lang="es-SV" dirty="0"/>
          </a:p>
          <a:p>
            <a:pPr marL="0" indent="0">
              <a:buNone/>
            </a:pPr>
            <a:r>
              <a:rPr lang="es-SV" dirty="0" smtClean="0"/>
              <a:t>	</a:t>
            </a:r>
            <a:r>
              <a:rPr lang="es-SV" b="1" dirty="0" err="1" smtClean="0"/>
              <a:t>Direccion</a:t>
            </a:r>
            <a:r>
              <a:rPr lang="es-SV" b="1" dirty="0" smtClean="0"/>
              <a:t>=</a:t>
            </a:r>
            <a:r>
              <a:rPr lang="es-SV" b="1" dirty="0" err="1" smtClean="0"/>
              <a:t>base+indice</a:t>
            </a:r>
            <a:r>
              <a:rPr lang="es-SV" b="1" dirty="0" smtClean="0"/>
              <a:t>*</a:t>
            </a:r>
            <a:r>
              <a:rPr lang="es-SV" b="1" dirty="0" err="1" smtClean="0"/>
              <a:t>escala+desplazamiento</a:t>
            </a:r>
            <a:endParaRPr lang="es-SV" b="1" dirty="0"/>
          </a:p>
          <a:p>
            <a:endParaRPr lang="es-SV" dirty="0"/>
          </a:p>
          <a:p>
            <a:r>
              <a:rPr lang="es-SV" dirty="0"/>
              <a:t>La base puede ser un inmediato o un registro.</a:t>
            </a:r>
          </a:p>
          <a:p>
            <a:r>
              <a:rPr lang="es-SV" dirty="0"/>
              <a:t>La escala puede ser un inmediato igual a 1,2,4 y 8.</a:t>
            </a:r>
          </a:p>
          <a:p>
            <a:r>
              <a:rPr lang="es-SV" dirty="0" smtClean="0"/>
              <a:t>Índice </a:t>
            </a:r>
            <a:r>
              <a:rPr lang="es-SV" dirty="0"/>
              <a:t>puede ser un inmediato o un registro.</a:t>
            </a:r>
          </a:p>
          <a:p>
            <a:r>
              <a:rPr lang="es-SV" dirty="0"/>
              <a:t>Desplazamiento siempre es un inmediato.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19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Rosalba\Desktop\123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057400"/>
            <a:ext cx="7867607" cy="269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53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/>
          </a:bodyPr>
          <a:lstStyle/>
          <a:p>
            <a:r>
              <a:rPr lang="es-SV" dirty="0"/>
              <a:t>Direccionamiento inmediato</a:t>
            </a:r>
          </a:p>
          <a:p>
            <a:r>
              <a:rPr lang="es-SV" dirty="0"/>
              <a:t>La </a:t>
            </a:r>
            <a:r>
              <a:rPr lang="es-SV" dirty="0" smtClean="0"/>
              <a:t>instrucción </a:t>
            </a:r>
            <a:r>
              <a:rPr lang="es-SV" dirty="0"/>
              <a:t>como tal esta almacenada en memoria.</a:t>
            </a:r>
          </a:p>
          <a:p>
            <a:r>
              <a:rPr lang="es-SV" dirty="0"/>
              <a:t>Los operandos de alguna manera son sus partes.</a:t>
            </a:r>
          </a:p>
          <a:p>
            <a:r>
              <a:rPr lang="es-SV" dirty="0"/>
              <a:t>Esas partes tienen direcciones por si mismas.</a:t>
            </a:r>
          </a:p>
          <a:p>
            <a:r>
              <a:rPr lang="es-SV" dirty="0"/>
              <a:t>Muchas instrucciones contienen el valor del operando dentro de si mismas.</a:t>
            </a:r>
          </a:p>
          <a:p>
            <a:r>
              <a:rPr lang="es-SV" dirty="0"/>
              <a:t>Ejemplo. </a:t>
            </a:r>
            <a:endParaRPr lang="es-SV" dirty="0" smtClean="0"/>
          </a:p>
          <a:p>
            <a:pPr marL="0" indent="0">
              <a:buNone/>
            </a:pPr>
            <a:r>
              <a:rPr lang="es-SV" b="1" dirty="0" smtClean="0"/>
              <a:t>              </a:t>
            </a:r>
            <a:r>
              <a:rPr lang="es-SV" sz="3500" b="1" dirty="0" err="1" smtClean="0"/>
              <a:t>mov</a:t>
            </a:r>
            <a:r>
              <a:rPr lang="es-SV" sz="3500" b="1" dirty="0" smtClean="0"/>
              <a:t> </a:t>
            </a:r>
            <a:r>
              <a:rPr lang="es-SV" sz="3500" b="1" dirty="0" err="1" smtClean="0"/>
              <a:t>rax</a:t>
            </a:r>
            <a:r>
              <a:rPr lang="es-SV" sz="3500" b="1" dirty="0" smtClean="0"/>
              <a:t>, 10</a:t>
            </a:r>
            <a:endParaRPr lang="en-US" sz="3500" b="1" dirty="0"/>
          </a:p>
        </p:txBody>
      </p:sp>
    </p:spTree>
    <p:extLst>
      <p:ext uri="{BB962C8B-B14F-4D97-AF65-F5344CB8AC3E}">
        <p14:creationId xmlns:p14="http://schemas.microsoft.com/office/powerpoint/2010/main" val="224982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SV" dirty="0"/>
              <a:t>Direccionamiento por registro</a:t>
            </a:r>
            <a:br>
              <a:rPr lang="es-SV" dirty="0"/>
            </a:b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 smtClean="0"/>
              <a:t>El </a:t>
            </a:r>
            <a:r>
              <a:rPr lang="es-SV" dirty="0"/>
              <a:t>valor que del operando esta contenido en un registro.</a:t>
            </a:r>
          </a:p>
          <a:p>
            <a:r>
              <a:rPr lang="es-SV" dirty="0"/>
              <a:t>Por ejemplo si transferimos el valor de un registro a otro.</a:t>
            </a:r>
          </a:p>
          <a:p>
            <a:r>
              <a:rPr lang="es-SV" dirty="0"/>
              <a:t>Ejemplo.  </a:t>
            </a:r>
            <a:r>
              <a:rPr lang="es-SV" sz="3600" b="1" dirty="0" err="1"/>
              <a:t>mov</a:t>
            </a:r>
            <a:r>
              <a:rPr lang="es-SV" sz="3600" b="1" dirty="0"/>
              <a:t> </a:t>
            </a:r>
            <a:r>
              <a:rPr lang="es-SV" sz="3600" b="1" dirty="0" err="1"/>
              <a:t>rax</a:t>
            </a:r>
            <a:r>
              <a:rPr lang="es-SV" sz="3600" b="1" dirty="0"/>
              <a:t>, </a:t>
            </a:r>
            <a:r>
              <a:rPr lang="es-SV" sz="3600" b="1" dirty="0" err="1"/>
              <a:t>rbx</a:t>
            </a:r>
            <a:endParaRPr lang="es-SV" sz="36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730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SV" dirty="0" err="1"/>
              <a:t>Direcciomiento</a:t>
            </a:r>
            <a:r>
              <a:rPr lang="es-SV" dirty="0"/>
              <a:t> de memoria directo</a:t>
            </a:r>
            <a:br>
              <a:rPr lang="es-SV" dirty="0"/>
            </a:b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SV" dirty="0" smtClean="0"/>
              <a:t>Veamos </a:t>
            </a:r>
            <a:r>
              <a:rPr lang="es-SV" dirty="0"/>
              <a:t>el caso en que vamos a transferir 8 bytes de una </a:t>
            </a:r>
            <a:r>
              <a:rPr lang="es-SV" dirty="0" smtClean="0"/>
              <a:t>dirección </a:t>
            </a:r>
            <a:r>
              <a:rPr lang="es-SV" dirty="0"/>
              <a:t>de memoria a un registro.</a:t>
            </a:r>
          </a:p>
          <a:p>
            <a:r>
              <a:rPr lang="es-SV" dirty="0"/>
              <a:t>Ejemplos</a:t>
            </a:r>
          </a:p>
          <a:p>
            <a:pPr marL="0" indent="0">
              <a:buNone/>
            </a:pPr>
            <a:r>
              <a:rPr lang="es-SV" dirty="0"/>
              <a:t>       </a:t>
            </a:r>
            <a:r>
              <a:rPr lang="es-SV" b="1" dirty="0" err="1" smtClean="0"/>
              <a:t>mov</a:t>
            </a:r>
            <a:r>
              <a:rPr lang="es-SV" b="1" dirty="0" smtClean="0"/>
              <a:t> </a:t>
            </a:r>
            <a:r>
              <a:rPr lang="es-SV" b="1" dirty="0" err="1"/>
              <a:t>rax</a:t>
            </a:r>
            <a:r>
              <a:rPr lang="es-SV" b="1" dirty="0"/>
              <a:t>, [10]</a:t>
            </a:r>
          </a:p>
          <a:p>
            <a:pPr marL="0" indent="0">
              <a:buNone/>
            </a:pPr>
            <a:r>
              <a:rPr lang="es-SV" b="1" dirty="0" smtClean="0"/>
              <a:t>       </a:t>
            </a:r>
            <a:r>
              <a:rPr lang="es-SV" b="1" dirty="0" err="1"/>
              <a:t>mov</a:t>
            </a:r>
            <a:r>
              <a:rPr lang="es-SV" b="1" dirty="0"/>
              <a:t> </a:t>
            </a:r>
            <a:r>
              <a:rPr lang="es-SV" b="1" dirty="0" err="1"/>
              <a:t>rax</a:t>
            </a:r>
            <a:r>
              <a:rPr lang="es-SV" b="1" dirty="0"/>
              <a:t>, [</a:t>
            </a:r>
            <a:r>
              <a:rPr lang="es-SV" b="1" dirty="0" err="1"/>
              <a:t>rbx</a:t>
            </a:r>
            <a:r>
              <a:rPr lang="es-SV" b="1" dirty="0" smtClean="0"/>
              <a:t>]</a:t>
            </a:r>
          </a:p>
          <a:p>
            <a:pPr marL="0" indent="0">
              <a:buNone/>
            </a:pPr>
            <a:r>
              <a:rPr lang="es-SV" b="1" dirty="0" smtClean="0"/>
              <a:t>       </a:t>
            </a:r>
          </a:p>
          <a:p>
            <a:pPr marL="0" indent="0">
              <a:buNone/>
            </a:pPr>
            <a:r>
              <a:rPr lang="es-SV" b="1" dirty="0"/>
              <a:t> </a:t>
            </a:r>
            <a:r>
              <a:rPr lang="es-SV" b="1" dirty="0" smtClean="0"/>
              <a:t>      </a:t>
            </a:r>
            <a:r>
              <a:rPr lang="es-SV" b="1" dirty="0" err="1" smtClean="0"/>
              <a:t>buffer:dq</a:t>
            </a:r>
            <a:r>
              <a:rPr lang="es-SV" b="1" dirty="0" smtClean="0"/>
              <a:t> </a:t>
            </a:r>
            <a:r>
              <a:rPr lang="es-SV" b="1" dirty="0"/>
              <a:t>8841, 99, 00</a:t>
            </a:r>
          </a:p>
          <a:p>
            <a:pPr marL="0" indent="0">
              <a:buNone/>
            </a:pPr>
            <a:r>
              <a:rPr lang="es-SV" b="1" dirty="0" smtClean="0"/>
              <a:t>       </a:t>
            </a:r>
            <a:r>
              <a:rPr lang="es-SV" b="1" dirty="0" err="1" smtClean="0"/>
              <a:t>mov</a:t>
            </a:r>
            <a:r>
              <a:rPr lang="es-SV" b="1" dirty="0" smtClean="0"/>
              <a:t> </a:t>
            </a:r>
            <a:r>
              <a:rPr lang="es-SV" b="1" dirty="0" err="1"/>
              <a:t>rax</a:t>
            </a:r>
            <a:r>
              <a:rPr lang="es-SV" b="1" dirty="0"/>
              <a:t>, [buffer + 8]</a:t>
            </a:r>
          </a:p>
          <a:p>
            <a:endParaRPr lang="es-SV" dirty="0"/>
          </a:p>
          <a:p>
            <a:endParaRPr lang="es-SV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350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SV" dirty="0"/>
              <a:t>Indexado con escala y desplazamiento</a:t>
            </a:r>
            <a:br>
              <a:rPr lang="es-SV" dirty="0"/>
            </a:b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29200"/>
          </a:xfrm>
        </p:spPr>
        <p:txBody>
          <a:bodyPr>
            <a:normAutofit fontScale="85000" lnSpcReduction="20000"/>
          </a:bodyPr>
          <a:lstStyle/>
          <a:p>
            <a:r>
              <a:rPr lang="es-SV" dirty="0" smtClean="0"/>
              <a:t>Muchos </a:t>
            </a:r>
            <a:r>
              <a:rPr lang="es-SV" dirty="0"/>
              <a:t>de los modos de direccionamiento quedan generalizados por este modo.</a:t>
            </a:r>
          </a:p>
          <a:p>
            <a:r>
              <a:rPr lang="es-SV" dirty="0"/>
              <a:t>La </a:t>
            </a:r>
            <a:r>
              <a:rPr lang="es-SV" dirty="0" smtClean="0"/>
              <a:t>dirección </a:t>
            </a:r>
            <a:r>
              <a:rPr lang="es-SV" dirty="0"/>
              <a:t>se calcula a </a:t>
            </a:r>
            <a:r>
              <a:rPr lang="es-SV" dirty="0" smtClean="0"/>
              <a:t>través </a:t>
            </a:r>
            <a:r>
              <a:rPr lang="es-SV" dirty="0"/>
              <a:t>de los siguientes componentes</a:t>
            </a:r>
            <a:r>
              <a:rPr lang="es-SV" dirty="0" smtClean="0"/>
              <a:t>.</a:t>
            </a:r>
          </a:p>
          <a:p>
            <a:endParaRPr lang="es-SV" sz="3800" b="1" dirty="0"/>
          </a:p>
          <a:p>
            <a:pPr marL="0" indent="0" algn="ctr">
              <a:buNone/>
            </a:pPr>
            <a:r>
              <a:rPr lang="es-SV" sz="3800" b="1" dirty="0" smtClean="0"/>
              <a:t> </a:t>
            </a:r>
            <a:r>
              <a:rPr lang="es-SV" sz="3800" b="1" dirty="0" err="1" smtClean="0"/>
              <a:t>Direccion</a:t>
            </a:r>
            <a:r>
              <a:rPr lang="es-SV" sz="3800" b="1" dirty="0" smtClean="0"/>
              <a:t>= </a:t>
            </a:r>
            <a:r>
              <a:rPr lang="es-SV" sz="3800" b="1" dirty="0"/>
              <a:t>base + </a:t>
            </a:r>
            <a:r>
              <a:rPr lang="es-SV" sz="3800" b="1" dirty="0" err="1" smtClean="0"/>
              <a:t>indice</a:t>
            </a:r>
            <a:r>
              <a:rPr lang="es-SV" sz="3800" b="1" dirty="0" smtClean="0"/>
              <a:t> * escala + desplazamiento</a:t>
            </a:r>
          </a:p>
          <a:p>
            <a:pPr marL="0" indent="0">
              <a:buNone/>
            </a:pPr>
            <a:endParaRPr lang="es-SV" sz="3800" b="1" dirty="0"/>
          </a:p>
          <a:p>
            <a:r>
              <a:rPr lang="es-SV" dirty="0"/>
              <a:t>La base puede ser un inmediato o un registro.</a:t>
            </a:r>
          </a:p>
          <a:p>
            <a:r>
              <a:rPr lang="es-SV" dirty="0"/>
              <a:t>La escala puede ser un inmediato igual a 1,2,4 y 8</a:t>
            </a:r>
          </a:p>
          <a:p>
            <a:r>
              <a:rPr lang="es-SV" dirty="0" smtClean="0"/>
              <a:t>Índice </a:t>
            </a:r>
            <a:r>
              <a:rPr lang="es-SV" dirty="0"/>
              <a:t>puede ser un inmediato o un registro.</a:t>
            </a:r>
          </a:p>
          <a:p>
            <a:r>
              <a:rPr lang="es-SV" dirty="0"/>
              <a:t>Desplazamiento siempre es un inmediato.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133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osalba\Desktop\qq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057400"/>
            <a:ext cx="7414591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SV" dirty="0" smtClean="0"/>
              <a:t>Modos de Direccionamiento </a:t>
            </a:r>
            <a:r>
              <a:rPr lang="es-SV" dirty="0"/>
              <a:t/>
            </a:r>
            <a:br>
              <a:rPr lang="es-SV" dirty="0"/>
            </a:br>
            <a:endParaRPr lang="en-US" dirty="0"/>
          </a:p>
        </p:txBody>
      </p:sp>
      <p:sp>
        <p:nvSpPr>
          <p:cNvPr id="4" name="3 Rectángulo"/>
          <p:cNvSpPr/>
          <p:nvPr/>
        </p:nvSpPr>
        <p:spPr>
          <a:xfrm>
            <a:off x="1143000" y="5257800"/>
            <a:ext cx="6781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SV" sz="2800" b="1" dirty="0" err="1">
                <a:solidFill>
                  <a:srgbClr val="C00000"/>
                </a:solidFill>
              </a:rPr>
              <a:t>Direccion</a:t>
            </a:r>
            <a:r>
              <a:rPr lang="es-SV" sz="2800" b="1" dirty="0">
                <a:solidFill>
                  <a:srgbClr val="C00000"/>
                </a:solidFill>
              </a:rPr>
              <a:t>= base + </a:t>
            </a:r>
            <a:r>
              <a:rPr lang="es-SV" sz="2800" b="1" dirty="0" err="1">
                <a:solidFill>
                  <a:srgbClr val="C00000"/>
                </a:solidFill>
              </a:rPr>
              <a:t>indice</a:t>
            </a:r>
            <a:r>
              <a:rPr lang="es-SV" sz="2800" b="1" dirty="0">
                <a:solidFill>
                  <a:srgbClr val="C00000"/>
                </a:solidFill>
              </a:rPr>
              <a:t> * escala + desplazamiento</a:t>
            </a:r>
          </a:p>
        </p:txBody>
      </p:sp>
    </p:spTree>
    <p:extLst>
      <p:ext uri="{BB962C8B-B14F-4D97-AF65-F5344CB8AC3E}">
        <p14:creationId xmlns:p14="http://schemas.microsoft.com/office/powerpoint/2010/main" val="96476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640</TotalTime>
  <Words>1327</Words>
  <Application>Microsoft Office PowerPoint</Application>
  <PresentationFormat>Presentación en pantalla (4:3)</PresentationFormat>
  <Paragraphs>163</Paragraphs>
  <Slides>34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5" baseType="lpstr">
      <vt:lpstr>Tema de Office</vt:lpstr>
      <vt:lpstr>Arquitectura de Computadoras</vt:lpstr>
      <vt:lpstr>Direccionamiento relativo </vt:lpstr>
      <vt:lpstr>Direccionamiento Relativo</vt:lpstr>
      <vt:lpstr>Flujo de Ejecucion</vt:lpstr>
      <vt:lpstr>Presentación de PowerPoint</vt:lpstr>
      <vt:lpstr>Presentación de PowerPoint</vt:lpstr>
      <vt:lpstr>Llamadas a Funciones</vt:lpstr>
      <vt:lpstr>Presentación de PowerPoint</vt:lpstr>
      <vt:lpstr>Presentación de PowerPoint</vt:lpstr>
      <vt:lpstr>Presentación de PowerPoint</vt:lpstr>
      <vt:lpstr>Preservacion de registros </vt:lpstr>
      <vt:lpstr>Presentación de PowerPoint</vt:lpstr>
      <vt:lpstr>Presentación de PowerPoint</vt:lpstr>
      <vt:lpstr>Retorno de valores</vt:lpstr>
      <vt:lpstr>Llamada a una Funcion</vt:lpstr>
      <vt:lpstr>Presentación de PowerPoint</vt:lpstr>
      <vt:lpstr>System Call</vt:lpstr>
      <vt:lpstr>Presentación de PowerPoint</vt:lpstr>
      <vt:lpstr>Presentación de PowerPoint</vt:lpstr>
      <vt:lpstr>Endianness</vt:lpstr>
      <vt:lpstr>Punteros y Modos de Direccionamiento</vt:lpstr>
      <vt:lpstr>Presentación de PowerPoint</vt:lpstr>
      <vt:lpstr>Presentación de PowerPoint</vt:lpstr>
      <vt:lpstr>Direccinamiento Inmediato</vt:lpstr>
      <vt:lpstr>Direccionamiento por registro </vt:lpstr>
      <vt:lpstr>Direccionamiento de memoria directo </vt:lpstr>
      <vt:lpstr>Direccionamiento de memoria directo </vt:lpstr>
      <vt:lpstr>Indexado con escala y desplazamiento </vt:lpstr>
      <vt:lpstr>Presentación de PowerPoint</vt:lpstr>
      <vt:lpstr>Presentación de PowerPoint</vt:lpstr>
      <vt:lpstr>Direccionamiento por registro </vt:lpstr>
      <vt:lpstr>Direcciomiento de memoria directo </vt:lpstr>
      <vt:lpstr>Indexado con escala y desplazamiento </vt:lpstr>
      <vt:lpstr>Modos de Direccionamiento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Flujo de Ejecucion</dc:title>
  <dc:creator>Rosalba</dc:creator>
  <cp:lastModifiedBy>Rosalba</cp:lastModifiedBy>
  <cp:revision>45</cp:revision>
  <dcterms:created xsi:type="dcterms:W3CDTF">2025-09-05T21:35:18Z</dcterms:created>
  <dcterms:modified xsi:type="dcterms:W3CDTF">2025-09-17T18:02:39Z</dcterms:modified>
</cp:coreProperties>
</file>